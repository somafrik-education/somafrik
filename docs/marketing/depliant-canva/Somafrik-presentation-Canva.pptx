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80" y="0"/>
            <a:ext cx="697961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74920" y="0"/>
            <a:ext cx="20116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mafri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4747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0432" y="384048"/>
            <a:ext cx="3657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SOMAFRIK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64008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BD5E1"/>
                </a:solidFill>
                <a:latin typeface="Inter"/>
              </a:rPr>
              <a:t>Transformer l’éducation, renforcer l’impact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4389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93C5FD"/>
                </a:solidFill>
                <a:latin typeface="Inter"/>
              </a:rPr>
              <a:t>GESTION SCOLAIRE MODERNE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448056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Pilotez votre établissement depuis un seul endroit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069080"/>
            <a:ext cx="44348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Somafrik réunit les élèves, les enseignants, les présences, les notes, les finances et la communication dans une plateforme accessible sur Web et Mobile.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532120"/>
            <a:ext cx="2331720" cy="475488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559552"/>
            <a:ext cx="23317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somafrik.app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5623560"/>
            <a:ext cx="20116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>
                <a:solidFill>
                  <a:srgbClr val="93C5FD"/>
                </a:solidFill>
                <a:latin typeface="Inter"/>
              </a:rPr>
              <a:t>Web  ·  Mobile</a:t>
            </a:r>
          </a:p>
        </p:txBody>
      </p:sp>
      <p:pic>
        <p:nvPicPr>
          <p:cNvPr id="14" name="Picture 13" descr="web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777240"/>
            <a:ext cx="6263640" cy="39736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23560" y="6263640"/>
            <a:ext cx="6126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64738B"/>
                </a:solidFill>
                <a:latin typeface="Inter"/>
              </a:rPr>
              <a:t>Application web — tableau de bord établissement (données fictives)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D4ED8"/>
                </a:solidFill>
                <a:latin typeface="Inter"/>
              </a:rPr>
              <a:t>APPLICATION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Ce que voit la direction une fois connectée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4738B"/>
                </a:solidFill>
                <a:latin typeface="Inter"/>
              </a:rPr>
              <a:t>Annuaire des élèves, organisation des classes, suivi des enseignants et tableaux de bord — depuis un écran complet.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3703320" cy="48920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627632"/>
            <a:ext cx="3483864" cy="22172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989320"/>
            <a:ext cx="3703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F172A"/>
                </a:solidFill>
                <a:latin typeface="Inter"/>
              </a:rPr>
              <a:t>Tableau de bord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508760"/>
            <a:ext cx="3703320" cy="48920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eb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627632"/>
            <a:ext cx="3483864" cy="22172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15968" y="5989320"/>
            <a:ext cx="3703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F172A"/>
                </a:solidFill>
                <a:latin typeface="Inter"/>
              </a:rPr>
              <a:t>Classes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1508760"/>
            <a:ext cx="3703320" cy="48920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eb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4" y="1627632"/>
            <a:ext cx="3483864" cy="22172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0456" y="5989320"/>
            <a:ext cx="3703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F172A"/>
                </a:solidFill>
                <a:latin typeface="Inter"/>
              </a:rPr>
              <a:t>Annuaire des élèves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Inter"/>
              </a:rPr>
              <a:t>APPLICATION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Le bureau pour piloter, le mobile pour le terrain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4738B"/>
                </a:solidFill>
                <a:latin typeface="Inter"/>
              </a:rPr>
              <a:t>Les enseignants font l’appel et saisissent les notes. Les parents suivent la scolarité de l’enfant.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44752"/>
            <a:ext cx="2606040" cy="4983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554480"/>
            <a:ext cx="2386584" cy="50320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355080"/>
            <a:ext cx="2606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F172A"/>
                </a:solidFill>
                <a:latin typeface="Inter"/>
              </a:rPr>
              <a:t>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444752"/>
            <a:ext cx="2606040" cy="4983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54480"/>
            <a:ext cx="2386584" cy="50320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64992" y="6355080"/>
            <a:ext cx="2606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F172A"/>
                </a:solidFill>
                <a:latin typeface="Inter"/>
              </a:rPr>
              <a:t>Appel des présences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444752"/>
            <a:ext cx="2606040" cy="4983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554480"/>
            <a:ext cx="2386584" cy="50320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27064" y="6355080"/>
            <a:ext cx="2606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F172A"/>
                </a:solidFill>
                <a:latin typeface="Inter"/>
              </a:rPr>
              <a:t>Saisie des notes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1444752"/>
            <a:ext cx="2606040" cy="4983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4" y="1554480"/>
            <a:ext cx="2386584" cy="503203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089136" y="6355080"/>
            <a:ext cx="2606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F172A"/>
                </a:solidFill>
                <a:latin typeface="Inter"/>
              </a:rPr>
              <a:t>Espace parent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D4ED8"/>
                </a:solidFill>
                <a:latin typeface="Inter"/>
              </a:rPr>
              <a:t>PREUVES MÉTIER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Somafrik dans le quotidien de l’établissement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2816352" cy="5349240"/>
          </a:xfrm>
          <a:prstGeom prst="roundRect">
            <a:avLst>
              <a:gd name="adj" fmla="val 7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280160"/>
            <a:ext cx="2596896" cy="1659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" y="5806440"/>
            <a:ext cx="254203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Connexion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6080760"/>
            <a:ext cx="2542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4738B"/>
                </a:solidFill>
                <a:latin typeface="Inter"/>
              </a:rPr>
              <a:t>Code établissement et identifiant.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143000"/>
            <a:ext cx="2816352" cy="5349240"/>
          </a:xfrm>
          <a:prstGeom prst="roundRect">
            <a:avLst>
              <a:gd name="adj" fmla="val 7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280160"/>
            <a:ext cx="2596896" cy="16591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11296" y="5806440"/>
            <a:ext cx="254203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Dossier élève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6080760"/>
            <a:ext cx="2542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4738B"/>
                </a:solidFill>
                <a:latin typeface="Inter"/>
              </a:rPr>
              <a:t>Identité, inscription, responsables.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1143000"/>
            <a:ext cx="2816352" cy="5349240"/>
          </a:xfrm>
          <a:prstGeom prst="roundRect">
            <a:avLst>
              <a:gd name="adj" fmla="val 7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280160"/>
            <a:ext cx="2596896" cy="54865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10528" y="5806440"/>
            <a:ext cx="254203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Paiements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6080760"/>
            <a:ext cx="2542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4738B"/>
                </a:solidFill>
                <a:latin typeface="Inter"/>
              </a:rPr>
              <a:t>Frais, encaissements, reçus.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63456" y="1143000"/>
            <a:ext cx="2816352" cy="5349240"/>
          </a:xfrm>
          <a:prstGeom prst="roundRect">
            <a:avLst>
              <a:gd name="adj" fmla="val 7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184" y="1280160"/>
            <a:ext cx="2596896" cy="548657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09760" y="5806440"/>
            <a:ext cx="254203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Élèves (mobile)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6080760"/>
            <a:ext cx="2542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4738B"/>
                </a:solidFill>
                <a:latin typeface="Inter"/>
              </a:rPr>
              <a:t>Annuaire et suivi de classe.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D4ED8"/>
                </a:solidFill>
                <a:latin typeface="Inter"/>
              </a:rPr>
              <a:t>FONCTIONNALITÉS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Les besoins couverts aujourd’hui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51560"/>
            <a:ext cx="2176272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91440" cy="187451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188720"/>
            <a:ext cx="18562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Scolarité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600200"/>
            <a:ext cx="185623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4738B"/>
                </a:solidFill>
                <a:latin typeface="Inter"/>
              </a:rPr>
              <a:t>Élèves, classes et enseignants au même endroit.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4056" y="1051560"/>
            <a:ext cx="2176272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34056" y="1051560"/>
            <a:ext cx="91440" cy="187451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1188720"/>
            <a:ext cx="18562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Pédagogie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4" y="1600200"/>
            <a:ext cx="185623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4738B"/>
                </a:solidFill>
                <a:latin typeface="Inter"/>
              </a:rPr>
              <a:t>Présences, notes et évaluations du quotidien.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6632" y="1051560"/>
            <a:ext cx="2176272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56632" y="1051560"/>
            <a:ext cx="91440" cy="187451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1188720"/>
            <a:ext cx="18562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Finances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600200"/>
            <a:ext cx="185623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4738B"/>
                </a:solidFill>
                <a:latin typeface="Inter"/>
              </a:rPr>
              <a:t>Frais scolaires, paiements et suivi des soldes.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9208" y="1051560"/>
            <a:ext cx="2176272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9208" y="1051560"/>
            <a:ext cx="91440" cy="187451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0376" y="1188720"/>
            <a:ext cx="18562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0376" y="1600200"/>
            <a:ext cx="185623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4738B"/>
                </a:solidFill>
                <a:latin typeface="Inter"/>
              </a:rPr>
              <a:t>Messages et annonces de l’établissement.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01784" y="1051560"/>
            <a:ext cx="2176272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01784" y="1051560"/>
            <a:ext cx="91440" cy="187451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2952" y="1188720"/>
            <a:ext cx="18562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Pilotage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2" y="1600200"/>
            <a:ext cx="185623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4738B"/>
                </a:solidFill>
                <a:latin typeface="Inter"/>
              </a:rPr>
              <a:t>Tableaux de bord et indicateurs par école.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15468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D4ED8"/>
                </a:solidFill>
                <a:latin typeface="Inter"/>
              </a:rPr>
              <a:t>POUR QUI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Pensé d’abord pour l’établissement — chaque profil retrouve son travail quotidien.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88620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406908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D4ED8"/>
                </a:solidFill>
                <a:latin typeface="Inter"/>
              </a:rPr>
              <a:t>Direction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4526280"/>
            <a:ext cx="24231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172A"/>
                </a:solidFill>
                <a:latin typeface="Inter"/>
              </a:rPr>
              <a:t>Suivre classes, effectifs, présences et frais, puis décider.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64992" y="388620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406908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D4ED8"/>
                </a:solidFill>
                <a:latin typeface="Inter"/>
              </a:rPr>
              <a:t>Administration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526280"/>
            <a:ext cx="24231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172A"/>
                </a:solidFill>
                <a:latin typeface="Inter"/>
              </a:rPr>
              <a:t>Inscrire les élèves, organiser les classes, enregistrer les paiements.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18504" y="388620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406908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D4ED8"/>
                </a:solidFill>
                <a:latin typeface="Inter"/>
              </a:rPr>
              <a:t>Enseignants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4526280"/>
            <a:ext cx="24231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172A"/>
                </a:solidFill>
                <a:latin typeface="Inter"/>
              </a:rPr>
              <a:t>Faire l’appel et saisir les notes, sur web ou mobile.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72016" y="388620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73184" y="406908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D4ED8"/>
                </a:solidFill>
                <a:latin typeface="Inter"/>
              </a:rPr>
              <a:t>Parents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73184" y="4526280"/>
            <a:ext cx="24231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172A"/>
                </a:solidFill>
                <a:latin typeface="Inter"/>
              </a:rPr>
              <a:t>Consulter notes, présences et frais, selon les accès accordés.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mafri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56692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SOMAFRIK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84124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La plateforme qui simplifie la gestion de votre établissement scolaire.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67665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Ouvrez l’espace de votre établissement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6583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CBD5E1"/>
                </a:solidFill>
                <a:latin typeface="Inter"/>
              </a:rPr>
              <a:t>Si votre école dispose déjà d’un compte Somafrik, connectez-vous pour retrouver les classes, les élèves, les présences, les notes et les finances.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434840"/>
            <a:ext cx="2880360" cy="530352"/>
          </a:xfrm>
          <a:prstGeom prst="roundRect">
            <a:avLst>
              <a:gd name="adj" fmla="val 18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462272"/>
            <a:ext cx="28803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somafrik.app /connexion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526280"/>
            <a:ext cx="38404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93C5FD"/>
                </a:solidFill>
                <a:latin typeface="Inter"/>
              </a:rPr>
              <a:t>somafrik.app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502920"/>
            <a:ext cx="3886200" cy="5852160"/>
          </a:xfrm>
          <a:prstGeom prst="roundRect">
            <a:avLst>
              <a:gd name="adj" fmla="val 6000"/>
            </a:avLst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685800"/>
            <a:ext cx="3520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Chaque établissement reste dans son périmètre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188720"/>
            <a:ext cx="3520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93C5FD"/>
                </a:solidFill>
                <a:latin typeface="Inter"/>
              </a:rPr>
              <a:t>Authentification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508760"/>
            <a:ext cx="35204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BD5E1"/>
                </a:solidFill>
                <a:latin typeface="Inter"/>
              </a:rPr>
              <a:t>Connexion avec le code de l’établissement et un identifiant.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423160"/>
            <a:ext cx="3520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93C5FD"/>
                </a:solidFill>
                <a:latin typeface="Inter"/>
              </a:rPr>
              <a:t>Séparation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743200"/>
            <a:ext cx="35204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BD5E1"/>
                </a:solidFill>
                <a:latin typeface="Inter"/>
              </a:rPr>
              <a:t>Les données d’une école ne sont pas mélangées avec celles d’une autre.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657600"/>
            <a:ext cx="3520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93C5FD"/>
                </a:solidFill>
                <a:latin typeface="Inter"/>
              </a:rPr>
              <a:t>Rôles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977640"/>
            <a:ext cx="35204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BD5E1"/>
                </a:solidFill>
                <a:latin typeface="Inter"/>
              </a:rPr>
              <a:t>Direction, administration, enseignant ou parent : chacun voit son périmètre.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4748B"/>
                </a:solidFill>
                <a:latin typeface="Inter"/>
              </a:rPr>
              <a:t>© 2026 Somafrik  ·  Captures runtime, données fictives  ·  Document modifiable dans Canva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