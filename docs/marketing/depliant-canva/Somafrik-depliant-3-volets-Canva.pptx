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92079" cy="75602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4026" cy="7560259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4026" y="0"/>
            <a:ext cx="3564026" cy="7560259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28052" y="0"/>
            <a:ext cx="3564026" cy="7560259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mafrik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92608"/>
            <a:ext cx="530352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34747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SOMAFRIK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5216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3C5FD"/>
                </a:solidFill>
                <a:latin typeface="Inter"/>
              </a:rPr>
              <a:t>Web et 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097280"/>
            <a:ext cx="3063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737360"/>
            <a:ext cx="3063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E2E8F0"/>
                </a:solidFill>
                <a:latin typeface="Inter"/>
              </a:rPr>
              <a:t>somafrik.app
somafrik.app/connexion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606040"/>
            <a:ext cx="3063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93C5FD"/>
                </a:solidFill>
                <a:latin typeface="Inter"/>
              </a:rPr>
              <a:t>Sécurité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2971800"/>
            <a:ext cx="306324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BD5E1"/>
                </a:solidFill>
                <a:latin typeface="Inter"/>
              </a:rPr>
              <a:t>Authentification par établissement.
Données séparées par école.
Accès selon le rôle : direction, administration, enseignant, parent.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6812280"/>
            <a:ext cx="3063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© 2026 Somafrik
Captures runtime · données fictives</a:t>
            </a:r>
          </a:p>
        </p:txBody>
      </p:sp>
      <p:pic>
        <p:nvPicPr>
          <p:cNvPr id="13" name="Picture 12" descr="somafrik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058" y="320040"/>
            <a:ext cx="566928" cy="566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78426" y="384048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SOMAFRIK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8426" y="6217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DBEAFE"/>
                </a:solidFill>
                <a:latin typeface="Inter"/>
              </a:rPr>
              <a:t>Gestion scolaire moderne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0058" y="1188720"/>
            <a:ext cx="306324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Inter"/>
              </a:rPr>
              <a:t>Pilotez votre établissement depuis un seul endroit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0058" y="3383280"/>
            <a:ext cx="30632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BEAFE"/>
                </a:solidFill>
                <a:latin typeface="Inter"/>
              </a:rPr>
              <a:t>Élèves, enseignants, présences, notes, finances et communication — sur Web et Mobile.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20058" y="4983480"/>
            <a:ext cx="21945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20058" y="5001768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1D4ED8"/>
                </a:solidFill>
                <a:latin typeface="Inter"/>
              </a:rPr>
              <a:t>somafrik.app</a:t>
            </a:r>
          </a:p>
        </p:txBody>
      </p:sp>
      <p:pic>
        <p:nvPicPr>
          <p:cNvPr id="20" name="Picture 19" descr="leaf-cover-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194" y="5486400"/>
            <a:ext cx="3154680" cy="20154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765194" y="7178040"/>
            <a:ext cx="3154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DBEAFE"/>
                </a:solidFill>
                <a:latin typeface="Inter"/>
              </a:rPr>
              <a:t>Transformer l’éducation, renforcer l’impact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4084" y="320040"/>
            <a:ext cx="3063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1D4ED8"/>
                </a:solidFill>
                <a:latin typeface="Inter"/>
              </a:rPr>
              <a:t>POURQUOI SOMAFRIK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4084" y="594360"/>
            <a:ext cx="3063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Cinq apports concrets pour l’école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84084" y="1371600"/>
            <a:ext cx="30632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4084" y="1371600"/>
            <a:ext cx="91440" cy="8412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5252" y="1536192"/>
            <a:ext cx="27432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Centraliser dossiers, classes et comptes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84084" y="2331720"/>
            <a:ext cx="30632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4084" y="2331720"/>
            <a:ext cx="91440" cy="8412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5252" y="2496312"/>
            <a:ext cx="27432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Suivre la scolarité sans tableurs dispersés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84084" y="3291840"/>
            <a:ext cx="30632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4084" y="3291840"/>
            <a:ext cx="91440" cy="8412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5252" y="3456432"/>
            <a:ext cx="27432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Piloter les frais et le reste à payer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84084" y="4251960"/>
            <a:ext cx="30632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84084" y="4251960"/>
            <a:ext cx="91440" cy="8412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5252" y="4416552"/>
            <a:ext cx="27432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Appel et notes sur le terrain, depuis le mobile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84084" y="5212080"/>
            <a:ext cx="30632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84084" y="5212080"/>
            <a:ext cx="91440" cy="8412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5252" y="5376672"/>
            <a:ext cx="27432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Les familles restent informées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4084" y="6812280"/>
            <a:ext cx="3063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D4ED8"/>
                </a:solidFill>
                <a:latin typeface="Inter"/>
              </a:rPr>
              <a:t>Ouvrez le dépliant 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44026" y="0"/>
            <a:ext cx="40000" cy="756025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08052" y="0"/>
            <a:ext cx="40000" cy="756025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79" cy="75602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79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201168"/>
            <a:ext cx="3200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1D4ED8"/>
                </a:solidFill>
                <a:latin typeface="Inter"/>
              </a:rPr>
              <a:t>APPLICATION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402336"/>
            <a:ext cx="3246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Le bureau pour piloter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1005840"/>
            <a:ext cx="3200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4738B"/>
                </a:solidFill>
                <a:latin typeface="Inter"/>
              </a:rPr>
              <a:t>Tableaux de bord, classes et annuaire des élèves sur un écran complet.</a:t>
            </a:r>
          </a:p>
        </p:txBody>
      </p:sp>
      <p:pic>
        <p:nvPicPr>
          <p:cNvPr id="7" name="Picture 6" descr="leaf-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554480"/>
            <a:ext cx="3246120" cy="2071125"/>
          </a:xfrm>
          <a:prstGeom prst="rect">
            <a:avLst/>
          </a:prstGeom>
        </p:spPr>
      </p:pic>
      <p:pic>
        <p:nvPicPr>
          <p:cNvPr id="8" name="Picture 7" descr="leaf-c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160520"/>
            <a:ext cx="3246120" cy="2071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65194" y="201168"/>
            <a:ext cx="3200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1D4ED8"/>
                </a:solidFill>
                <a:latin typeface="Inter"/>
              </a:rPr>
              <a:t>AUJOURD’HUI DANS SOMAFRIK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5194" y="402336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Les besoins couverts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6906" y="1005840"/>
            <a:ext cx="3200400" cy="694944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11498" y="1078992"/>
            <a:ext cx="29260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Scolarité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1498" y="1316736"/>
            <a:ext cx="2926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4738B"/>
                </a:solidFill>
                <a:latin typeface="Inter"/>
              </a:rPr>
              <a:t>Élèves, classes et enseignants au même endroit.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6906" y="1783080"/>
            <a:ext cx="3200400" cy="694944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1498" y="1856232"/>
            <a:ext cx="29260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Pédagogie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1498" y="2093976"/>
            <a:ext cx="2926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4738B"/>
                </a:solidFill>
                <a:latin typeface="Inter"/>
              </a:rPr>
              <a:t>Présences, notes et évaluations du quotidien.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6906" y="2560320"/>
            <a:ext cx="3200400" cy="694944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11498" y="2633472"/>
            <a:ext cx="29260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Finances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1498" y="2871216"/>
            <a:ext cx="2926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4738B"/>
                </a:solidFill>
                <a:latin typeface="Inter"/>
              </a:rPr>
              <a:t>Frais scolaires, paiements et suivi des soldes.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6906" y="3337560"/>
            <a:ext cx="3200400" cy="694944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11498" y="3410712"/>
            <a:ext cx="29260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Communication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1498" y="3648456"/>
            <a:ext cx="2926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4738B"/>
                </a:solidFill>
                <a:latin typeface="Inter"/>
              </a:rPr>
              <a:t>Messages et annonces de l’établissement.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46906" y="4114800"/>
            <a:ext cx="3200400" cy="694944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11498" y="4187952"/>
            <a:ext cx="29260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Pilotage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1498" y="4425696"/>
            <a:ext cx="2926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4738B"/>
                </a:solidFill>
                <a:latin typeface="Inter"/>
              </a:rPr>
              <a:t>Tableaux de bord et indicateurs par école.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65194" y="498348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1D4ED8"/>
                </a:solidFill>
                <a:latin typeface="Inter"/>
              </a:rPr>
              <a:t>POUR QUI 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65194" y="5212080"/>
            <a:ext cx="32004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172A"/>
                </a:solidFill>
                <a:latin typeface="Inter"/>
              </a:rPr>
              <a:t>Direction  ·  Administration
Enseignants  ·  Parents
Chaque profil retrouve son travail quotidien, sans changer d’outil.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2644" y="201168"/>
            <a:ext cx="3200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0F766E"/>
                </a:solidFill>
                <a:latin typeface="Inter"/>
              </a:rPr>
              <a:t>APPLICATION MOBILE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2644" y="402336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Le terrain, dans la poche</a:t>
            </a:r>
          </a:p>
        </p:txBody>
      </p:sp>
      <p:pic>
        <p:nvPicPr>
          <p:cNvPr id="30" name="Picture 29" descr="leaf-m-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4356" y="1051560"/>
            <a:ext cx="1024128" cy="213851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274356" y="6355080"/>
            <a:ext cx="10241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Classes</a:t>
            </a:r>
          </a:p>
        </p:txBody>
      </p:sp>
      <p:pic>
        <p:nvPicPr>
          <p:cNvPr id="32" name="Picture 31" descr="leaf-m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1636" y="1051560"/>
            <a:ext cx="1024128" cy="21385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371636" y="6355080"/>
            <a:ext cx="10241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Appel</a:t>
            </a:r>
          </a:p>
        </p:txBody>
      </p:sp>
      <p:pic>
        <p:nvPicPr>
          <p:cNvPr id="34" name="Picture 33" descr="leaf-m-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8916" y="1051560"/>
            <a:ext cx="1024128" cy="21385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468916" y="6355080"/>
            <a:ext cx="10241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Notes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2644" y="6675120"/>
            <a:ext cx="3200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4738B"/>
                </a:solidFill>
                <a:latin typeface="Inter"/>
              </a:rPr>
              <a:t>Également : paiements, enseignants, espace parent.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44026" y="0"/>
            <a:ext cx="40000" cy="756025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08052" y="0"/>
            <a:ext cx="40000" cy="756025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